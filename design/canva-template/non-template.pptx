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7560056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a.wikipedia.org/wiki/%E3%83%8E%E3%83%B3%E3%83%A9%E3%83%BC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4804" y="1956937"/>
            <a:ext cx="6350447" cy="6350447"/>
          </a:xfrm>
          <a:prstGeom prst="ellipse">
            <a:avLst/>
          </a:prstGeom>
          <a:solidFill>
            <a:srgbClr val="3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イラスト：ノン"/>
          <p:cNvGrpSpPr/>
          <p:nvPr/>
        </p:nvGrpSpPr>
        <p:grpSpPr>
          <a:xfrm>
            <a:off x="1512011" y="4325388"/>
            <a:ext cx="4536033" cy="1950494"/>
            <a:chOff x="1512011" y="4325388"/>
            <a:chExt cx="4536033" cy="1950494"/>
          </a:xfrm>
        </p:grpSpPr>
        <p:sp>
          <p:nvSpPr>
            <p:cNvPr id="4" name="Isosceles Triangle 3"/>
            <p:cNvSpPr/>
            <p:nvPr/>
          </p:nvSpPr>
          <p:spPr>
            <a:xfrm>
              <a:off x="1512011" y="4325388"/>
              <a:ext cx="4536033" cy="1769053"/>
            </a:xfrm>
            <a:prstGeom prst="triangle">
              <a:avLst/>
            </a:prstGeom>
            <a:solidFill>
              <a:srgbClr val="B8955A"/>
            </a:solidFill>
            <a:ln w="12700">
              <a:solidFill>
                <a:srgbClr val="D9BD8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795513" y="5873310"/>
              <a:ext cx="3969029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2079015" y="5652178"/>
              <a:ext cx="3402025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2362517" y="5431046"/>
              <a:ext cx="2835021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2646019" y="5209915"/>
              <a:ext cx="2268017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2929521" y="4988783"/>
              <a:ext cx="1701013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3213023" y="4767651"/>
              <a:ext cx="1134009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3496525" y="4546520"/>
              <a:ext cx="567005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1512011" y="5913000"/>
              <a:ext cx="4536033" cy="362882"/>
            </a:xfrm>
            <a:prstGeom prst="ellipse">
              <a:avLst/>
            </a:prstGeom>
            <a:solidFill>
              <a:srgbClr val="B8955A"/>
            </a:solidFill>
            <a:ln w="12700">
              <a:solidFill>
                <a:srgbClr val="D9BD8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タイトル"/>
          <p:cNvSpPr txBox="1"/>
          <p:nvPr/>
        </p:nvSpPr>
        <p:spPr>
          <a:xfrm>
            <a:off x="508000" y="1817640"/>
            <a:ext cx="6544056" cy="127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</a:pPr>
            <a:r>
              <a:rPr sz="8400" b="0" i="0" spc="1800">
                <a:solidFill>
                  <a:srgbClr val="F4EDE0"/>
                </a:solidFill>
                <a:latin typeface="Playfair Display"/>
                <a:ea typeface="Playfair Display"/>
                <a:cs typeface="Playfair Display"/>
              </a:rPr>
              <a:t>NÓN</a:t>
            </a:r>
          </a:p>
        </p:txBody>
      </p:sp>
      <p:sp>
        <p:nvSpPr>
          <p:cNvPr id="14" name="サブタイトル"/>
          <p:cNvSpPr txBox="1"/>
          <p:nvPr/>
        </p:nvSpPr>
        <p:spPr>
          <a:xfrm>
            <a:off x="508000" y="3207600"/>
            <a:ext cx="6544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D9BD84"/>
                </a:solidFill>
                <a:latin typeface="Noto Serif JP"/>
                <a:ea typeface="Noto Serif JP"/>
                <a:cs typeface="Noto Serif JP"/>
              </a:rPr>
              <a:t>ノン — 頭上の物語</a:t>
            </a:r>
          </a:p>
        </p:txBody>
      </p:sp>
      <p:sp>
        <p:nvSpPr>
          <p:cNvPr id="15" name="キャッチコピー"/>
          <p:cNvSpPr txBox="1"/>
          <p:nvPr/>
        </p:nvSpPr>
        <p:spPr>
          <a:xfrm>
            <a:off x="508000" y="8125922"/>
            <a:ext cx="6544056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4EDE0"/>
                </a:solidFill>
                <a:latin typeface="Noto Sans JP"/>
                <a:ea typeface="Noto Sans JP"/>
                <a:cs typeface="Noto Sans JP"/>
              </a:rPr>
              <a:t>日常の道具から、文化とファッションの象徴へ</a:t>
            </a:r>
          </a:p>
        </p:txBody>
      </p:sp>
      <p:sp>
        <p:nvSpPr>
          <p:cNvPr id="16" name="号数"/>
          <p:cNvSpPr txBox="1"/>
          <p:nvPr/>
        </p:nvSpPr>
        <p:spPr>
          <a:xfrm>
            <a:off x="508000" y="9853803"/>
            <a:ext cx="6544056" cy="20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B8955A"/>
                </a:solidFill>
                <a:latin typeface="Noto Sans JP"/>
                <a:ea typeface="Noto Sans JP"/>
                <a:cs typeface="Noto Sans JP"/>
              </a:rPr>
              <a:t>第1号 — 2026年秋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見出し（縦書き）"/>
          <p:cNvSpPr txBox="1"/>
          <p:nvPr/>
        </p:nvSpPr>
        <p:spPr>
          <a:xfrm>
            <a:off x="6391656" y="812800"/>
            <a:ext cx="635000" cy="2032000"/>
          </a:xfrm>
          <a:prstGeom prst="rect">
            <a:avLst/>
          </a:prstGeom>
          <a:noFill/>
        </p:spPr>
        <p:txBody>
          <a:bodyPr wrap="square" anchor="t" lIns="0" rIns="0" tIns="0" bIns="0" vert="eaVer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7D2F2A"/>
                </a:solidFill>
                <a:latin typeface="Noto Serif JP"/>
                <a:ea typeface="Noto Serif JP"/>
                <a:cs typeface="Noto Serif JP"/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219200"/>
            <a:ext cx="5588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B8955A"/>
                </a:solidFill>
                <a:latin typeface="Playfair Display"/>
                <a:ea typeface="Playfair Display"/>
                <a:cs typeface="Playfair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1244600"/>
            <a:ext cx="3810000" cy="279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ノンの始まり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1524000"/>
            <a:ext cx="3810000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第1章 · 起源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0056" y="1295400"/>
            <a:ext cx="889000" cy="20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E4D3D"/>
                </a:solidFill>
                <a:latin typeface="Playfair Display"/>
                <a:ea typeface="Playfair Display"/>
                <a:cs typeface="Playfair Display"/>
              </a:rPr>
              <a:t>03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5000" y="1803400"/>
            <a:ext cx="5401056" cy="0"/>
          </a:xfrm>
          <a:prstGeom prst="line">
            <a:avLst/>
          </a:prstGeom>
          <a:ln w="6350">
            <a:solidFill>
              <a:srgbClr val="D6C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5000" y="2057400"/>
            <a:ext cx="5588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B8955A"/>
                </a:solidFill>
                <a:latin typeface="Playfair Display"/>
                <a:ea typeface="Playfair Display"/>
                <a:cs typeface="Playfair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082800"/>
            <a:ext cx="3810000" cy="279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笠づくりの村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2362200"/>
            <a:ext cx="3810000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第2章 · 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2133600"/>
            <a:ext cx="889000" cy="20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E4D3D"/>
                </a:solidFill>
                <a:latin typeface="Playfair Display"/>
                <a:ea typeface="Playfair Display"/>
                <a:cs typeface="Playfair Display"/>
              </a:rPr>
              <a:t>11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5000" y="2641600"/>
            <a:ext cx="5401056" cy="0"/>
          </a:xfrm>
          <a:prstGeom prst="line">
            <a:avLst/>
          </a:prstGeom>
          <a:ln w="6350">
            <a:solidFill>
              <a:srgbClr val="D6C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2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章番号（飾り）"/>
          <p:cNvSpPr txBox="1"/>
          <p:nvPr/>
        </p:nvSpPr>
        <p:spPr>
          <a:xfrm>
            <a:off x="508000" y="6501003"/>
            <a:ext cx="4572000" cy="355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24000" b="0" i="0">
                <a:solidFill>
                  <a:srgbClr val="8A3D37"/>
                </a:solidFill>
                <a:latin typeface="Playfair Display"/>
                <a:ea typeface="Playfair Display"/>
                <a:cs typeface="Playfair Display"/>
              </a:rPr>
              <a:t>01</a:t>
            </a:r>
          </a:p>
        </p:txBody>
      </p:sp>
      <p:sp>
        <p:nvSpPr>
          <p:cNvPr id="3" name="章タイトル（縦書き）"/>
          <p:cNvSpPr txBox="1"/>
          <p:nvPr/>
        </p:nvSpPr>
        <p:spPr>
          <a:xfrm>
            <a:off x="5909056" y="1143000"/>
            <a:ext cx="889000" cy="8152003"/>
          </a:xfrm>
          <a:prstGeom prst="rect">
            <a:avLst/>
          </a:prstGeom>
          <a:noFill/>
        </p:spPr>
        <p:txBody>
          <a:bodyPr wrap="square" anchor="t" lIns="0" rIns="0" tIns="0" bIns="0" vert="eaVert"/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EDE0"/>
                </a:solidFill>
                <a:latin typeface="Noto Serif JP"/>
                <a:ea typeface="Noto Serif JP"/>
                <a:cs typeface="Noto Serif JP"/>
              </a:rPr>
              <a:t>ノンの始まり</a:t>
            </a:r>
          </a:p>
        </p:txBody>
      </p:sp>
      <p:sp>
        <p:nvSpPr>
          <p:cNvPr id="4" name="章"/>
          <p:cNvSpPr txBox="1"/>
          <p:nvPr/>
        </p:nvSpPr>
        <p:spPr>
          <a:xfrm>
            <a:off x="635000" y="889000"/>
            <a:ext cx="2540000" cy="20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BD84"/>
                </a:solidFill>
                <a:latin typeface="Noto Sans JP"/>
                <a:ea typeface="Noto Sans JP"/>
                <a:cs typeface="Noto Sans JP"/>
              </a:rPr>
              <a:t>第1章</a:t>
            </a:r>
          </a:p>
        </p:txBody>
      </p:sp>
      <p:sp>
        <p:nvSpPr>
          <p:cNvPr id="5" name="キーワード"/>
          <p:cNvSpPr txBox="1"/>
          <p:nvPr/>
        </p:nvSpPr>
        <p:spPr>
          <a:xfrm>
            <a:off x="635000" y="11430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BD84"/>
                </a:solidFill>
                <a:latin typeface="Noto Sans JP"/>
                <a:ea typeface="Noto Sans JP"/>
                <a:cs typeface="Noto Sans JP"/>
              </a:rPr>
              <a:t>起源</a:t>
            </a:r>
          </a:p>
        </p:txBody>
      </p:sp>
      <p:sp>
        <p:nvSpPr>
          <p:cNvPr id="6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D9BD84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D9B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小見出し"/>
          <p:cNvSpPr txBox="1"/>
          <p:nvPr/>
        </p:nvSpPr>
        <p:spPr>
          <a:xfrm>
            <a:off x="635000" y="889000"/>
            <a:ext cx="3810000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955A"/>
                </a:solidFill>
                <a:latin typeface="Noto Sans JP"/>
                <a:ea typeface="Noto Sans JP"/>
                <a:cs typeface="Noto Sans JP"/>
              </a:rPr>
              <a:t>01 — 起源</a:t>
            </a:r>
          </a:p>
        </p:txBody>
      </p:sp>
      <p:sp>
        <p:nvSpPr>
          <p:cNvPr id="5" name="見出し"/>
          <p:cNvSpPr txBox="1"/>
          <p:nvPr/>
        </p:nvSpPr>
        <p:spPr>
          <a:xfrm>
            <a:off x="635000" y="1117600"/>
            <a:ext cx="6290056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手から手へ</a:t>
            </a:r>
          </a:p>
        </p:txBody>
      </p:sp>
      <p:grpSp>
        <p:nvGrpSpPr>
          <p:cNvPr id="6" name="画像（差し替え）"/>
          <p:cNvGrpSpPr/>
          <p:nvPr/>
        </p:nvGrpSpPr>
        <p:grpSpPr>
          <a:xfrm>
            <a:off x="635000" y="1854200"/>
            <a:ext cx="6290056" cy="2921000"/>
            <a:chOff x="635000" y="1854200"/>
            <a:chExt cx="6290056" cy="2921000"/>
          </a:xfrm>
        </p:grpSpPr>
        <p:sp>
          <p:nvSpPr>
            <p:cNvPr id="7" name="Rectangle 6"/>
            <p:cNvSpPr/>
            <p:nvPr/>
          </p:nvSpPr>
          <p:spPr>
            <a:xfrm>
              <a:off x="635000" y="1854200"/>
              <a:ext cx="6290056" cy="2921000"/>
            </a:xfrm>
            <a:prstGeom prst="rect">
              <a:avLst/>
            </a:prstGeom>
            <a:solidFill>
              <a:srgbClr val="EBE0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" name="イラスト：ノン"/>
            <p:cNvGrpSpPr/>
            <p:nvPr/>
          </p:nvGrpSpPr>
          <p:grpSpPr>
            <a:xfrm>
              <a:off x="2383028" y="3101340"/>
              <a:ext cx="2794000" cy="1201420"/>
              <a:chOff x="2383028" y="3101340"/>
              <a:chExt cx="2794000" cy="1201420"/>
            </a:xfrm>
          </p:grpSpPr>
          <p:sp>
            <p:nvSpPr>
              <p:cNvPr id="9" name="Isosceles Triangle 8"/>
              <p:cNvSpPr/>
              <p:nvPr/>
            </p:nvSpPr>
            <p:spPr>
              <a:xfrm>
                <a:off x="2383028" y="3101340"/>
                <a:ext cx="2794000" cy="1089660"/>
              </a:xfrm>
              <a:prstGeom prst="triangle">
                <a:avLst/>
              </a:prstGeom>
              <a:solidFill>
                <a:srgbClr val="B8955A"/>
              </a:solidFill>
              <a:ln w="12700">
                <a:solidFill>
                  <a:srgbClr val="3B2A1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0" name="Connector 9"/>
              <p:cNvCxnSpPr/>
              <p:nvPr/>
            </p:nvCxnSpPr>
            <p:spPr>
              <a:xfrm>
                <a:off x="2557653" y="4054792"/>
                <a:ext cx="244475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 10"/>
              <p:cNvCxnSpPr/>
              <p:nvPr/>
            </p:nvCxnSpPr>
            <p:spPr>
              <a:xfrm>
                <a:off x="2732278" y="3918585"/>
                <a:ext cx="209550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ctor 11"/>
              <p:cNvCxnSpPr/>
              <p:nvPr/>
            </p:nvCxnSpPr>
            <p:spPr>
              <a:xfrm>
                <a:off x="2906903" y="3782377"/>
                <a:ext cx="174625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or 12"/>
              <p:cNvCxnSpPr/>
              <p:nvPr/>
            </p:nvCxnSpPr>
            <p:spPr>
              <a:xfrm>
                <a:off x="3081528" y="3646170"/>
                <a:ext cx="139700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or 13"/>
              <p:cNvCxnSpPr/>
              <p:nvPr/>
            </p:nvCxnSpPr>
            <p:spPr>
              <a:xfrm>
                <a:off x="3256153" y="3509962"/>
                <a:ext cx="104775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or 14"/>
              <p:cNvCxnSpPr/>
              <p:nvPr/>
            </p:nvCxnSpPr>
            <p:spPr>
              <a:xfrm>
                <a:off x="3430778" y="3373754"/>
                <a:ext cx="69850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 15"/>
              <p:cNvCxnSpPr/>
              <p:nvPr/>
            </p:nvCxnSpPr>
            <p:spPr>
              <a:xfrm>
                <a:off x="3605403" y="3237547"/>
                <a:ext cx="34925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Oval 16"/>
              <p:cNvSpPr/>
              <p:nvPr/>
            </p:nvSpPr>
            <p:spPr>
              <a:xfrm>
                <a:off x="2383028" y="4079240"/>
                <a:ext cx="2794000" cy="223520"/>
              </a:xfrm>
              <a:prstGeom prst="ellipse">
                <a:avLst/>
              </a:prstGeom>
              <a:solidFill>
                <a:srgbClr val="B8955A"/>
              </a:solidFill>
              <a:ln w="12700">
                <a:solidFill>
                  <a:srgbClr val="3B2A1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8" name="キャプション"/>
          <p:cNvSpPr txBox="1"/>
          <p:nvPr/>
        </p:nvSpPr>
        <p:spPr>
          <a:xfrm>
            <a:off x="635000" y="4876800"/>
            <a:ext cx="6290056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図：ノンラーの構造 — 十六本の竹の輪と椰子の葉</a:t>
            </a:r>
          </a:p>
        </p:txBody>
      </p:sp>
      <p:sp>
        <p:nvSpPr>
          <p:cNvPr id="19" name="本文"/>
          <p:cNvSpPr txBox="1"/>
          <p:nvPr/>
        </p:nvSpPr>
        <p:spPr>
          <a:xfrm>
            <a:off x="635000" y="5334000"/>
            <a:ext cx="6290056" cy="381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一つの笠を仕上げるには、熟練の職人でも丸一日かかります。竹を細く削って十六本の輪をつくり、乾燥させた椰子の葉を一枚ずつ重ねて、細い糸で縫いとめていきます。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フエの「詩の笠」は、光にかざすと葉の間に詩や風景が浮かび上がります。薄い葉の層の間に切り絵を挟みこむ、繊細な技法です。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田んぼで働く農家、市場の売り手、川を渡る船頭。ノンは日々の暮らしのなかで、日よけ、雨よけ、うちわ、そして水をすくう器にもなります。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見出し（縦書き）"/>
          <p:cNvSpPr txBox="1"/>
          <p:nvPr/>
        </p:nvSpPr>
        <p:spPr>
          <a:xfrm>
            <a:off x="6417056" y="838200"/>
            <a:ext cx="508000" cy="4318000"/>
          </a:xfrm>
          <a:prstGeom prst="rect">
            <a:avLst/>
          </a:prstGeom>
          <a:noFill/>
        </p:spPr>
        <p:txBody>
          <a:bodyPr wrap="square" anchor="t" lIns="0" rIns="0" tIns="0" bIns="0" vert="eaVer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D2F2A"/>
                </a:solidFill>
                <a:latin typeface="Noto Serif JP"/>
                <a:ea typeface="Noto Serif JP"/>
                <a:cs typeface="Noto Serif JP"/>
              </a:rPr>
              <a:t>ノンの始まり</a:t>
            </a:r>
          </a:p>
        </p:txBody>
      </p:sp>
      <p:sp>
        <p:nvSpPr>
          <p:cNvPr id="5" name="本文（縦書き）"/>
          <p:cNvSpPr txBox="1"/>
          <p:nvPr/>
        </p:nvSpPr>
        <p:spPr>
          <a:xfrm>
            <a:off x="635000" y="838200"/>
            <a:ext cx="5528056" cy="9041003"/>
          </a:xfrm>
          <a:prstGeom prst="rect">
            <a:avLst/>
          </a:prstGeom>
          <a:noFill/>
        </p:spPr>
        <p:txBody>
          <a:bodyPr wrap="square" anchor="t" lIns="0" rIns="0" tIns="0" bIns="0" vert="eaVert"/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50" b="0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ノンラー（ベトナムの葉の笠）は、強い日差しと突然のスコールから人々を守るために生まれました。円錐形のかたちは雨水をすばやく流し、広いつばは顔と肩に影をつくります。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50" b="0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一つの笠を仕上げるには、熟練の職人でも丸一日かかります。竹を細く削って十六本の輪をつくり、乾燥させた椰子の葉を一枚ずつ重ねて、細い糸で縫いとめていきます。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50" b="0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フエの「詩の笠」は、光にかざすと葉の間に詩や風景が浮かび上がります。薄い葉の層の間に切り絵を挟みこむ、繊細な技法です。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50" b="0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田んぼで働く農家、市場の売り手、川を渡る船頭。ノンは日々の暮らしのなかで、日よけ、雨よけ、うちわ、そして水をすくう器にもなります。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50" b="0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現代ではファッションや観光の象徴としても親しまれ、アオザイと組み合わせた姿はベトナムを代表するイメージの一つになりました。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30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写真（差し替え）"/>
          <p:cNvGrpSpPr/>
          <p:nvPr/>
        </p:nvGrpSpPr>
        <p:grpSpPr>
          <a:xfrm>
            <a:off x="0" y="-1283040"/>
            <a:ext cx="7560056" cy="11975043"/>
            <a:chOff x="0" y="-1283040"/>
            <a:chExt cx="7560056" cy="11975043"/>
          </a:xfrm>
        </p:grpSpPr>
        <p:sp>
          <p:nvSpPr>
            <p:cNvPr id="3" name="Rectangle 2"/>
            <p:cNvSpPr/>
            <p:nvPr/>
          </p:nvSpPr>
          <p:spPr>
            <a:xfrm>
              <a:off x="0" y="4704481"/>
              <a:ext cx="7560056" cy="1603800"/>
            </a:xfrm>
            <a:prstGeom prst="rect">
              <a:avLst/>
            </a:prstGeom>
            <a:solidFill>
              <a:srgbClr val="EFC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3207600"/>
              <a:ext cx="7560056" cy="1603800"/>
            </a:xfrm>
            <a:prstGeom prst="rect">
              <a:avLst/>
            </a:prstGeom>
            <a:solidFill>
              <a:srgbClr val="D98A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710720"/>
              <a:ext cx="7560056" cy="1603800"/>
            </a:xfrm>
            <a:prstGeom prst="rect">
              <a:avLst/>
            </a:prstGeom>
            <a:solidFill>
              <a:srgbClr val="9C4A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213840"/>
              <a:ext cx="7560056" cy="1603800"/>
            </a:xfrm>
            <a:prstGeom prst="rect">
              <a:avLst/>
            </a:prstGeom>
            <a:solidFill>
              <a:srgbClr val="5A2D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-1283040"/>
              <a:ext cx="7560056" cy="1603800"/>
            </a:xfrm>
            <a:prstGeom prst="rect">
              <a:avLst/>
            </a:prstGeom>
            <a:solidFill>
              <a:srgbClr val="2B1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0"/>
              <a:ext cx="7560056" cy="641520"/>
            </a:xfrm>
            <a:prstGeom prst="rect">
              <a:avLst/>
            </a:prstGeom>
            <a:solidFill>
              <a:srgbClr val="2B1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305736" y="4383721"/>
              <a:ext cx="1924560" cy="1924560"/>
            </a:xfrm>
            <a:prstGeom prst="ellipse">
              <a:avLst/>
            </a:prstGeom>
            <a:solidFill>
              <a:srgbClr val="F6DC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6201361"/>
              <a:ext cx="7560056" cy="4490641"/>
            </a:xfrm>
            <a:prstGeom prst="rect">
              <a:avLst/>
            </a:prstGeom>
            <a:solidFill>
              <a:srgbClr val="1B13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H="1">
              <a:off x="0" y="6201361"/>
              <a:ext cx="3780028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581542" y="6201361"/>
              <a:ext cx="3198486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1163085" y="6201361"/>
              <a:ext cx="2616943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>
              <a:off x="1744628" y="6201361"/>
              <a:ext cx="2035400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2326171" y="6201361"/>
              <a:ext cx="1453857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907713" y="6201361"/>
              <a:ext cx="872315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>
              <a:off x="3489256" y="6201361"/>
              <a:ext cx="290772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3780028" y="6201361"/>
              <a:ext cx="290771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3780028" y="6201361"/>
              <a:ext cx="872314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3780028" y="6201361"/>
              <a:ext cx="1453856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3780028" y="6201361"/>
              <a:ext cx="2035399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3780028" y="6201361"/>
              <a:ext cx="2616942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3780028" y="6201361"/>
              <a:ext cx="3198485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780028" y="6201361"/>
              <a:ext cx="3780028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シルエット"/>
            <p:cNvGrpSpPr/>
            <p:nvPr/>
          </p:nvGrpSpPr>
          <p:grpSpPr>
            <a:xfrm>
              <a:off x="3511114" y="5497827"/>
              <a:ext cx="2352240" cy="1011464"/>
              <a:chOff x="3511114" y="5497827"/>
              <a:chExt cx="2352240" cy="1011464"/>
            </a:xfrm>
          </p:grpSpPr>
          <p:sp>
            <p:nvSpPr>
              <p:cNvPr id="26" name="Isosceles Triangle 25"/>
              <p:cNvSpPr/>
              <p:nvPr/>
            </p:nvSpPr>
            <p:spPr>
              <a:xfrm>
                <a:off x="3511114" y="5497827"/>
                <a:ext cx="2352240" cy="917373"/>
              </a:xfrm>
              <a:prstGeom prst="triangle">
                <a:avLst/>
              </a:prstGeom>
              <a:solidFill>
                <a:srgbClr val="120C08"/>
              </a:solidFill>
              <a:ln w="12700">
                <a:solidFill>
                  <a:srgbClr val="120C0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3511114" y="6321112"/>
                <a:ext cx="2352240" cy="188179"/>
              </a:xfrm>
              <a:prstGeom prst="ellipse">
                <a:avLst/>
              </a:prstGeom>
              <a:solidFill>
                <a:srgbClr val="120C08"/>
              </a:solidFill>
              <a:ln w="12700">
                <a:solidFill>
                  <a:srgbClr val="120C0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28" name="写真タイトル"/>
          <p:cNvSpPr txBox="1"/>
          <p:nvPr/>
        </p:nvSpPr>
        <p:spPr>
          <a:xfrm>
            <a:off x="635000" y="8279003"/>
            <a:ext cx="6290056" cy="55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EDE0"/>
                </a:solidFill>
                <a:latin typeface="Noto Serif JP"/>
                <a:ea typeface="Noto Serif JP"/>
                <a:cs typeface="Noto Serif JP"/>
              </a:rPr>
              <a:t>黄金の田んぼ</a:t>
            </a:r>
          </a:p>
        </p:txBody>
      </p:sp>
      <p:sp>
        <p:nvSpPr>
          <p:cNvPr id="29" name="写真キャプション"/>
          <p:cNvSpPr txBox="1"/>
          <p:nvPr/>
        </p:nvSpPr>
        <p:spPr>
          <a:xfrm>
            <a:off x="635000" y="8914003"/>
            <a:ext cx="6290056" cy="20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4EDE0"/>
                </a:solidFill>
                <a:latin typeface="Noto Sans JP"/>
                <a:ea typeface="Noto Sans JP"/>
                <a:cs typeface="Noto Sans JP"/>
              </a:rPr>
              <a:t>ベトナム中部</a:t>
            </a:r>
          </a:p>
        </p:txBody>
      </p:sp>
      <p:sp>
        <p:nvSpPr>
          <p:cNvPr id="30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D9BD84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D9B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0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引用符"/>
          <p:cNvSpPr txBox="1"/>
          <p:nvPr/>
        </p:nvSpPr>
        <p:spPr>
          <a:xfrm>
            <a:off x="558800" y="1524000"/>
            <a:ext cx="1524000" cy="1905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4000" b="0" i="1">
                <a:solidFill>
                  <a:srgbClr val="B8955A"/>
                </a:solidFill>
                <a:latin typeface="Playfair Display"/>
                <a:ea typeface="Playfair Display"/>
                <a:cs typeface="Playfair Display"/>
              </a:rPr>
              <a:t>“</a:t>
            </a:r>
          </a:p>
        </p:txBody>
      </p:sp>
      <p:sp>
        <p:nvSpPr>
          <p:cNvPr id="5" name="引用"/>
          <p:cNvSpPr txBox="1"/>
          <p:nvPr/>
        </p:nvSpPr>
        <p:spPr>
          <a:xfrm>
            <a:off x="889000" y="4062961"/>
            <a:ext cx="5782056" cy="152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200" b="1" i="0">
                <a:solidFill>
                  <a:srgbClr val="3B2A1E"/>
                </a:solidFill>
                <a:latin typeface="Noto Serif JP"/>
                <a:ea typeface="Noto Serif JP"/>
                <a:cs typeface="Noto Serif JP"/>
              </a:rPr>
              <a:t>笠は頭の上にあるだけではない。</a:t>
            </a:r>
          </a:p>
          <a:p>
            <a:pPr algn="l">
              <a:lnSpc>
                <a:spcPct val="150000"/>
              </a:lnSpc>
            </a:pPr>
            <a:r>
              <a:rPr sz="2200" b="1" i="0">
                <a:solidFill>
                  <a:srgbClr val="3B2A1E"/>
                </a:solidFill>
                <a:latin typeface="Noto Serif JP"/>
                <a:ea typeface="Noto Serif JP"/>
                <a:cs typeface="Noto Serif JP"/>
              </a:rPr>
              <a:t>かぶる人の物語を運んでいる。</a:t>
            </a:r>
          </a:p>
        </p:txBody>
      </p:sp>
      <p:sp>
        <p:nvSpPr>
          <p:cNvPr id="6" name="出典"/>
          <p:cNvSpPr txBox="1"/>
          <p:nvPr/>
        </p:nvSpPr>
        <p:spPr>
          <a:xfrm>
            <a:off x="889000" y="5713961"/>
            <a:ext cx="5782056" cy="20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— フエの笠職人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小見出し"/>
          <p:cNvSpPr txBox="1"/>
          <p:nvPr/>
        </p:nvSpPr>
        <p:spPr>
          <a:xfrm>
            <a:off x="635000" y="889000"/>
            <a:ext cx="3810000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955A"/>
                </a:solidFill>
                <a:latin typeface="Noto Sans JP"/>
                <a:ea typeface="Noto Sans JP"/>
                <a:cs typeface="Noto Sans JP"/>
              </a:rPr>
              <a:t>01 — 起源</a:t>
            </a:r>
          </a:p>
        </p:txBody>
      </p:sp>
      <p:sp>
        <p:nvSpPr>
          <p:cNvPr id="5" name="見出し"/>
          <p:cNvSpPr txBox="1"/>
          <p:nvPr/>
        </p:nvSpPr>
        <p:spPr>
          <a:xfrm>
            <a:off x="635000" y="1117600"/>
            <a:ext cx="6290056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次の世代へ</a:t>
            </a:r>
          </a:p>
        </p:txBody>
      </p:sp>
      <p:sp>
        <p:nvSpPr>
          <p:cNvPr id="6" name="本文"/>
          <p:cNvSpPr txBox="1"/>
          <p:nvPr/>
        </p:nvSpPr>
        <p:spPr>
          <a:xfrm>
            <a:off x="635000" y="1905000"/>
            <a:ext cx="6290056" cy="558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職人の数は年々減っていますが、若い世代が新しいデザインや素材に挑戦し、伝統を未来へとつないでいます。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ノンラー（ベトナムの葉の笠）は、強い日差しと突然のスコールから人々を守るために生まれました。円錐形のかたちは雨水をすばやく流し、広いつばは顔と肩に影をつくります。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一つの笠を仕上げるには、熟練の職人でも丸一日かかります。竹を細く削って十六本の輪をつくり、乾燥させた椰子の葉を一枚ずつ重ねて、細い糸で縫いとめていきます。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フエの「詩の笠」は、光にかざすと葉の間に詩や風景が浮かび上がります。薄い葉の層の間に切り絵を挟みこむ、繊細な技法です。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田んぼで働く農家、市場の売り手、川を渡る船頭。ノンは日々の暮らしのなかで、日よけ、雨よけ、うちわ、そして水をすくう器にもなります。</a:t>
            </a:r>
          </a:p>
        </p:txBody>
      </p:sp>
      <p:sp>
        <p:nvSpPr>
          <p:cNvPr id="7" name="引用ライン"/>
          <p:cNvSpPr/>
          <p:nvPr/>
        </p:nvSpPr>
        <p:spPr>
          <a:xfrm>
            <a:off x="635000" y="8128000"/>
            <a:ext cx="38100" cy="889000"/>
          </a:xfrm>
          <a:prstGeom prst="rect">
            <a:avLst/>
          </a:prstGeom>
          <a:solidFill>
            <a:srgbClr val="7D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引用"/>
          <p:cNvSpPr txBox="1"/>
          <p:nvPr/>
        </p:nvSpPr>
        <p:spPr>
          <a:xfrm>
            <a:off x="838200" y="8204200"/>
            <a:ext cx="5909056" cy="889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7D2F2A"/>
                </a:solidFill>
                <a:latin typeface="Noto Serif JP"/>
                <a:ea typeface="Noto Serif JP"/>
                <a:cs typeface="Noto Serif JP"/>
              </a:rPr>
              <a:t>光にかざせば、葉の奥から詩が現れる。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小見出し"/>
          <p:cNvSpPr txBox="1"/>
          <p:nvPr/>
        </p:nvSpPr>
        <p:spPr>
          <a:xfrm>
            <a:off x="635000" y="889000"/>
            <a:ext cx="3810000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955A"/>
                </a:solidFill>
                <a:latin typeface="Noto Sans JP"/>
                <a:ea typeface="Noto Sans JP"/>
                <a:cs typeface="Noto Sans JP"/>
              </a:rPr>
              <a:t>映像</a:t>
            </a:r>
          </a:p>
        </p:txBody>
      </p:sp>
      <p:sp>
        <p:nvSpPr>
          <p:cNvPr id="5" name="見出し"/>
          <p:cNvSpPr txBox="1"/>
          <p:nvPr/>
        </p:nvSpPr>
        <p:spPr>
          <a:xfrm>
            <a:off x="635000" y="1117600"/>
            <a:ext cx="6290056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笠ができるまで</a:t>
            </a:r>
          </a:p>
        </p:txBody>
      </p:sp>
      <p:sp>
        <p:nvSpPr>
          <p:cNvPr id="6" name="リード"/>
          <p:cNvSpPr txBox="1"/>
          <p:nvPr/>
        </p:nvSpPr>
        <p:spPr>
          <a:xfrm>
            <a:off x="635000" y="1778000"/>
            <a:ext cx="6290056" cy="762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竹を削り、葉を重ね、糸で縫いとめる。職人の一日を映像で追いました。</a:t>
            </a:r>
          </a:p>
        </p:txBody>
      </p:sp>
      <p:grpSp>
        <p:nvGrpSpPr>
          <p:cNvPr id="7" name="動画エリア"/>
          <p:cNvGrpSpPr/>
          <p:nvPr/>
        </p:nvGrpSpPr>
        <p:grpSpPr>
          <a:xfrm>
            <a:off x="756005" y="3207600"/>
            <a:ext cx="6048044" cy="4811401"/>
            <a:chOff x="756005" y="3207600"/>
            <a:chExt cx="6048044" cy="4811401"/>
          </a:xfrm>
        </p:grpSpPr>
        <p:sp>
          <p:nvSpPr>
            <p:cNvPr id="8" name="Rectangle 7"/>
            <p:cNvSpPr/>
            <p:nvPr/>
          </p:nvSpPr>
          <p:spPr>
            <a:xfrm>
              <a:off x="756005" y="3207600"/>
              <a:ext cx="6048044" cy="4811401"/>
            </a:xfrm>
            <a:prstGeom prst="rect">
              <a:avLst/>
            </a:prstGeom>
            <a:solidFill>
              <a:srgbClr val="24180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 rot="5400000">
              <a:off x="3551428" y="5333901"/>
              <a:ext cx="558800" cy="558800"/>
            </a:xfrm>
            <a:prstGeom prst="triangle">
              <a:avLst/>
            </a:prstGeom>
            <a:solidFill>
              <a:srgbClr val="D9BD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本文"/>
          <p:cNvSpPr txBox="1"/>
          <p:nvPr/>
        </p:nvSpPr>
        <p:spPr>
          <a:xfrm>
            <a:off x="635000" y="8323802"/>
            <a:ext cx="6290056" cy="152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一つの笠を仕上げるには、熟練の職人でも丸一日かかります。竹を細く削って十六本の輪をつくり、乾燥させた椰子の葉を一枚ずつ重ねて、細い糸で縫いとめていきます。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小見出し"/>
          <p:cNvSpPr txBox="1"/>
          <p:nvPr/>
        </p:nvSpPr>
        <p:spPr>
          <a:xfrm>
            <a:off x="635000" y="889000"/>
            <a:ext cx="3810000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955A"/>
                </a:solidFill>
                <a:latin typeface="Noto Sans JP"/>
                <a:ea typeface="Noto Sans JP"/>
                <a:cs typeface="Noto Sans JP"/>
              </a:rPr>
              <a:t>01 — 起源</a:t>
            </a:r>
          </a:p>
        </p:txBody>
      </p:sp>
      <p:sp>
        <p:nvSpPr>
          <p:cNvPr id="5" name="見出し"/>
          <p:cNvSpPr txBox="1"/>
          <p:nvPr/>
        </p:nvSpPr>
        <p:spPr>
          <a:xfrm>
            <a:off x="635000" y="1117600"/>
            <a:ext cx="6290056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雨の日のノン</a:t>
            </a:r>
          </a:p>
        </p:txBody>
      </p:sp>
      <p:sp>
        <p:nvSpPr>
          <p:cNvPr id="6" name="本文"/>
          <p:cNvSpPr txBox="1"/>
          <p:nvPr/>
        </p:nvSpPr>
        <p:spPr>
          <a:xfrm>
            <a:off x="635000" y="1905000"/>
            <a:ext cx="6290056" cy="558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田んぼで働く農家、市場の売り手、川を渡る船頭。ノンは日々の暮らしのなかで、日よけ、雨よけ、うちわ、そして水をすくう器にもなります。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現代ではファッションや観光の象徴としても親しまれ、アオザイと組み合わせた姿はベトナムを代表するイメージの一つになりました。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職人の数は年々減っていますが、若い世代が新しいデザインや素材に挑戦し、伝統を未来へとつないでいます。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ノンラー（ベトナムの葉の笠）は、強い日差しと突然のスコールから人々を守るために生まれました。円錐形のかたちは雨水をすばやく流し、広いつばは顔と肩に影をつくります。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一つの笠を仕上げるには、熟練の職人でも丸一日かかります。竹を細く削って十六本の輪をつくり、乾燥させた椰子の葉を一枚ずつ重ねて、細い糸で縫いとめていきます。</a:t>
            </a:r>
          </a:p>
        </p:txBody>
      </p:sp>
      <p:sp>
        <p:nvSpPr>
          <p:cNvPr id="7" name="リンク"/>
          <p:cNvSpPr txBox="1"/>
          <p:nvPr/>
        </p:nvSpPr>
        <p:spPr>
          <a:xfrm>
            <a:off x="635000" y="8382000"/>
            <a:ext cx="6290056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2F2A"/>
                </a:solidFill>
                <a:latin typeface="Noto Sans JP"/>
                <a:ea typeface="Noto Sans JP"/>
                <a:cs typeface="Noto Sans JP"/>
                <a:hlinkClick r:id="rId2"/>
              </a:rPr>
              <a:t>もっと知る → ウィキペディア「ノンラー」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章番号（飾り）"/>
          <p:cNvSpPr txBox="1"/>
          <p:nvPr/>
        </p:nvSpPr>
        <p:spPr>
          <a:xfrm>
            <a:off x="508000" y="6501003"/>
            <a:ext cx="4572000" cy="355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24000" b="0" i="0">
                <a:solidFill>
                  <a:srgbClr val="4A3628"/>
                </a:solidFill>
                <a:latin typeface="Playfair Display"/>
                <a:ea typeface="Playfair Display"/>
                <a:cs typeface="Playfair Display"/>
              </a:rPr>
              <a:t>02</a:t>
            </a:r>
          </a:p>
        </p:txBody>
      </p:sp>
      <p:sp>
        <p:nvSpPr>
          <p:cNvPr id="3" name="章タイトル（縦書き）"/>
          <p:cNvSpPr txBox="1"/>
          <p:nvPr/>
        </p:nvSpPr>
        <p:spPr>
          <a:xfrm>
            <a:off x="5909056" y="1143000"/>
            <a:ext cx="889000" cy="8152003"/>
          </a:xfrm>
          <a:prstGeom prst="rect">
            <a:avLst/>
          </a:prstGeom>
          <a:noFill/>
        </p:spPr>
        <p:txBody>
          <a:bodyPr wrap="square" anchor="t" lIns="0" rIns="0" tIns="0" bIns="0" vert="eaVert"/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EDE0"/>
                </a:solidFill>
                <a:latin typeface="Noto Serif JP"/>
                <a:ea typeface="Noto Serif JP"/>
                <a:cs typeface="Noto Serif JP"/>
              </a:rPr>
              <a:t>笠づくりの村</a:t>
            </a:r>
          </a:p>
        </p:txBody>
      </p:sp>
      <p:sp>
        <p:nvSpPr>
          <p:cNvPr id="4" name="章"/>
          <p:cNvSpPr txBox="1"/>
          <p:nvPr/>
        </p:nvSpPr>
        <p:spPr>
          <a:xfrm>
            <a:off x="635000" y="889000"/>
            <a:ext cx="2540000" cy="20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BD84"/>
                </a:solidFill>
                <a:latin typeface="Noto Sans JP"/>
                <a:ea typeface="Noto Sans JP"/>
                <a:cs typeface="Noto Sans JP"/>
              </a:rPr>
              <a:t>第2章</a:t>
            </a:r>
          </a:p>
        </p:txBody>
      </p:sp>
      <p:sp>
        <p:nvSpPr>
          <p:cNvPr id="5" name="キーワード"/>
          <p:cNvSpPr txBox="1"/>
          <p:nvPr/>
        </p:nvSpPr>
        <p:spPr>
          <a:xfrm>
            <a:off x="635000" y="1143000"/>
            <a:ext cx="2540000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BD84"/>
                </a:solidFill>
                <a:latin typeface="Noto Sans JP"/>
                <a:ea typeface="Noto Sans JP"/>
                <a:cs typeface="Noto Sans JP"/>
              </a:rPr>
              <a:t>村</a:t>
            </a:r>
          </a:p>
        </p:txBody>
      </p:sp>
      <p:sp>
        <p:nvSpPr>
          <p:cNvPr id="6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D9BD84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D9B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小見出し"/>
          <p:cNvSpPr txBox="1"/>
          <p:nvPr/>
        </p:nvSpPr>
        <p:spPr>
          <a:xfrm>
            <a:off x="635000" y="889000"/>
            <a:ext cx="3810000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955A"/>
                </a:solidFill>
                <a:latin typeface="Noto Sans JP"/>
                <a:ea typeface="Noto Sans JP"/>
                <a:cs typeface="Noto Sans JP"/>
              </a:rPr>
              <a:t>02 — 村</a:t>
            </a:r>
          </a:p>
        </p:txBody>
      </p:sp>
      <p:sp>
        <p:nvSpPr>
          <p:cNvPr id="5" name="見出し"/>
          <p:cNvSpPr txBox="1"/>
          <p:nvPr/>
        </p:nvSpPr>
        <p:spPr>
          <a:xfrm>
            <a:off x="635000" y="1117600"/>
            <a:ext cx="6290056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光と影</a:t>
            </a:r>
          </a:p>
        </p:txBody>
      </p:sp>
      <p:grpSp>
        <p:nvGrpSpPr>
          <p:cNvPr id="6" name="画像（差し替え）"/>
          <p:cNvGrpSpPr/>
          <p:nvPr/>
        </p:nvGrpSpPr>
        <p:grpSpPr>
          <a:xfrm>
            <a:off x="635000" y="1854200"/>
            <a:ext cx="6290056" cy="2921000"/>
            <a:chOff x="635000" y="1854200"/>
            <a:chExt cx="6290056" cy="2921000"/>
          </a:xfrm>
        </p:grpSpPr>
        <p:sp>
          <p:nvSpPr>
            <p:cNvPr id="7" name="Rectangle 6"/>
            <p:cNvSpPr/>
            <p:nvPr/>
          </p:nvSpPr>
          <p:spPr>
            <a:xfrm>
              <a:off x="635000" y="1854200"/>
              <a:ext cx="6290056" cy="2921000"/>
            </a:xfrm>
            <a:prstGeom prst="rect">
              <a:avLst/>
            </a:prstGeom>
            <a:solidFill>
              <a:srgbClr val="EBE0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" name="イラスト：ノン"/>
            <p:cNvGrpSpPr/>
            <p:nvPr/>
          </p:nvGrpSpPr>
          <p:grpSpPr>
            <a:xfrm>
              <a:off x="2383028" y="3101340"/>
              <a:ext cx="2794000" cy="1201420"/>
              <a:chOff x="2383028" y="3101340"/>
              <a:chExt cx="2794000" cy="1201420"/>
            </a:xfrm>
          </p:grpSpPr>
          <p:sp>
            <p:nvSpPr>
              <p:cNvPr id="9" name="Isosceles Triangle 8"/>
              <p:cNvSpPr/>
              <p:nvPr/>
            </p:nvSpPr>
            <p:spPr>
              <a:xfrm>
                <a:off x="2383028" y="3101340"/>
                <a:ext cx="2794000" cy="1089660"/>
              </a:xfrm>
              <a:prstGeom prst="triangle">
                <a:avLst/>
              </a:prstGeom>
              <a:solidFill>
                <a:srgbClr val="B8955A"/>
              </a:solidFill>
              <a:ln w="12700">
                <a:solidFill>
                  <a:srgbClr val="3B2A1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0" name="Connector 9"/>
              <p:cNvCxnSpPr/>
              <p:nvPr/>
            </p:nvCxnSpPr>
            <p:spPr>
              <a:xfrm>
                <a:off x="2557653" y="4054792"/>
                <a:ext cx="244475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 10"/>
              <p:cNvCxnSpPr/>
              <p:nvPr/>
            </p:nvCxnSpPr>
            <p:spPr>
              <a:xfrm>
                <a:off x="2732278" y="3918585"/>
                <a:ext cx="209550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ctor 11"/>
              <p:cNvCxnSpPr/>
              <p:nvPr/>
            </p:nvCxnSpPr>
            <p:spPr>
              <a:xfrm>
                <a:off x="2906903" y="3782377"/>
                <a:ext cx="174625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or 12"/>
              <p:cNvCxnSpPr/>
              <p:nvPr/>
            </p:nvCxnSpPr>
            <p:spPr>
              <a:xfrm>
                <a:off x="3081528" y="3646170"/>
                <a:ext cx="139700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or 13"/>
              <p:cNvCxnSpPr/>
              <p:nvPr/>
            </p:nvCxnSpPr>
            <p:spPr>
              <a:xfrm>
                <a:off x="3256153" y="3509962"/>
                <a:ext cx="104775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or 14"/>
              <p:cNvCxnSpPr/>
              <p:nvPr/>
            </p:nvCxnSpPr>
            <p:spPr>
              <a:xfrm>
                <a:off x="3430778" y="3373754"/>
                <a:ext cx="69850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 15"/>
              <p:cNvCxnSpPr/>
              <p:nvPr/>
            </p:nvCxnSpPr>
            <p:spPr>
              <a:xfrm>
                <a:off x="3605403" y="3237547"/>
                <a:ext cx="349250" cy="0"/>
              </a:xfrm>
              <a:prstGeom prst="line">
                <a:avLst/>
              </a:prstGeom>
              <a:ln w="5080">
                <a:solidFill>
                  <a:srgbClr val="3B2A1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Oval 16"/>
              <p:cNvSpPr/>
              <p:nvPr/>
            </p:nvSpPr>
            <p:spPr>
              <a:xfrm>
                <a:off x="2383028" y="4079240"/>
                <a:ext cx="2794000" cy="223520"/>
              </a:xfrm>
              <a:prstGeom prst="ellipse">
                <a:avLst/>
              </a:prstGeom>
              <a:solidFill>
                <a:srgbClr val="B8955A"/>
              </a:solidFill>
              <a:ln w="12700">
                <a:solidFill>
                  <a:srgbClr val="3B2A1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8" name="キャプション"/>
          <p:cNvSpPr txBox="1"/>
          <p:nvPr/>
        </p:nvSpPr>
        <p:spPr>
          <a:xfrm>
            <a:off x="635000" y="4876800"/>
            <a:ext cx="6290056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図：ノンラーの構造 — 十六本の竹の輪と椰子の葉</a:t>
            </a:r>
          </a:p>
        </p:txBody>
      </p:sp>
      <p:sp>
        <p:nvSpPr>
          <p:cNvPr id="19" name="本文"/>
          <p:cNvSpPr txBox="1"/>
          <p:nvPr/>
        </p:nvSpPr>
        <p:spPr>
          <a:xfrm>
            <a:off x="635000" y="5334000"/>
            <a:ext cx="6290056" cy="381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フエの「詩の笠」は、光にかざすと葉の間に詩や風景が浮かび上がります。薄い葉の層の間に切り絵を挟みこむ、繊細な技法です。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田んぼで働く農家、市場の売り手、川を渡る船頭。ノンは日々の暮らしのなかで、日よけ、雨よけ、うちわ、そして水をすくう器にもなります。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現代ではファッションや観光の象徴としても親しまれ、アオザイと組み合わせた姿はベトナムを代表するイメージの一つになりました。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見出し（縦書き）"/>
          <p:cNvSpPr txBox="1"/>
          <p:nvPr/>
        </p:nvSpPr>
        <p:spPr>
          <a:xfrm>
            <a:off x="6417056" y="838200"/>
            <a:ext cx="508000" cy="4318000"/>
          </a:xfrm>
          <a:prstGeom prst="rect">
            <a:avLst/>
          </a:prstGeom>
          <a:noFill/>
        </p:spPr>
        <p:txBody>
          <a:bodyPr wrap="square" anchor="t" lIns="0" rIns="0" tIns="0" bIns="0" vert="eaVer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D2F2A"/>
                </a:solidFill>
                <a:latin typeface="Noto Serif JP"/>
                <a:ea typeface="Noto Serif JP"/>
                <a:cs typeface="Noto Serif JP"/>
              </a:rPr>
              <a:t>笠づくりの村</a:t>
            </a:r>
          </a:p>
        </p:txBody>
      </p:sp>
      <p:sp>
        <p:nvSpPr>
          <p:cNvPr id="5" name="本文（縦書き）"/>
          <p:cNvSpPr txBox="1"/>
          <p:nvPr/>
        </p:nvSpPr>
        <p:spPr>
          <a:xfrm>
            <a:off x="635000" y="838200"/>
            <a:ext cx="5528056" cy="9041003"/>
          </a:xfrm>
          <a:prstGeom prst="rect">
            <a:avLst/>
          </a:prstGeom>
          <a:noFill/>
        </p:spPr>
        <p:txBody>
          <a:bodyPr wrap="square" anchor="t" lIns="0" rIns="0" tIns="0" bIns="0" vert="eaVert"/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50" b="0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一つの笠を仕上げるには、熟練の職人でも丸一日かかります。竹を細く削って十六本の輪をつくり、乾燥させた椰子の葉を一枚ずつ重ねて、細い糸で縫いとめていきます。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50" b="0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フエの「詩の笠」は、光にかざすと葉の間に詩や風景が浮かび上がります。薄い葉の層の間に切り絵を挟みこむ、繊細な技法です。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50" b="0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田んぼで働く農家、市場の売り手、川を渡る船頭。ノンは日々の暮らしのなかで、日よけ、雨よけ、うちわ、そして水をすくう器にもなります。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50" b="0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現代ではファッションや観光の象徴としても親しまれ、アオザイと組み合わせた姿はベトナムを代表するイメージの一つになりました。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50" b="0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職人の数は年々減っていますが、若い世代が新しいデザインや素材に挑戦し、伝統を未来へとつないでいます。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30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写真（差し替え）"/>
          <p:cNvGrpSpPr/>
          <p:nvPr/>
        </p:nvGrpSpPr>
        <p:grpSpPr>
          <a:xfrm>
            <a:off x="0" y="-1283040"/>
            <a:ext cx="7560056" cy="11975043"/>
            <a:chOff x="0" y="-1283040"/>
            <a:chExt cx="7560056" cy="11975043"/>
          </a:xfrm>
        </p:grpSpPr>
        <p:sp>
          <p:nvSpPr>
            <p:cNvPr id="3" name="Rectangle 2"/>
            <p:cNvSpPr/>
            <p:nvPr/>
          </p:nvSpPr>
          <p:spPr>
            <a:xfrm>
              <a:off x="0" y="4704481"/>
              <a:ext cx="7560056" cy="1603800"/>
            </a:xfrm>
            <a:prstGeom prst="rect">
              <a:avLst/>
            </a:prstGeom>
            <a:solidFill>
              <a:srgbClr val="EFC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3207600"/>
              <a:ext cx="7560056" cy="1603800"/>
            </a:xfrm>
            <a:prstGeom prst="rect">
              <a:avLst/>
            </a:prstGeom>
            <a:solidFill>
              <a:srgbClr val="D98A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710720"/>
              <a:ext cx="7560056" cy="1603800"/>
            </a:xfrm>
            <a:prstGeom prst="rect">
              <a:avLst/>
            </a:prstGeom>
            <a:solidFill>
              <a:srgbClr val="9C4A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213840"/>
              <a:ext cx="7560056" cy="1603800"/>
            </a:xfrm>
            <a:prstGeom prst="rect">
              <a:avLst/>
            </a:prstGeom>
            <a:solidFill>
              <a:srgbClr val="5A2D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-1283040"/>
              <a:ext cx="7560056" cy="1603800"/>
            </a:xfrm>
            <a:prstGeom prst="rect">
              <a:avLst/>
            </a:prstGeom>
            <a:solidFill>
              <a:srgbClr val="2B1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0"/>
              <a:ext cx="7560056" cy="641520"/>
            </a:xfrm>
            <a:prstGeom prst="rect">
              <a:avLst/>
            </a:prstGeom>
            <a:solidFill>
              <a:srgbClr val="2B1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3422552" y="4383721"/>
              <a:ext cx="1924560" cy="1924560"/>
            </a:xfrm>
            <a:prstGeom prst="ellipse">
              <a:avLst/>
            </a:prstGeom>
            <a:solidFill>
              <a:srgbClr val="F6DC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6201361"/>
              <a:ext cx="7560056" cy="4490641"/>
            </a:xfrm>
            <a:prstGeom prst="rect">
              <a:avLst/>
            </a:prstGeom>
            <a:solidFill>
              <a:srgbClr val="1B13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 flipH="1">
              <a:off x="0" y="6201361"/>
              <a:ext cx="3780028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581542" y="6201361"/>
              <a:ext cx="3198486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1163085" y="6201361"/>
              <a:ext cx="2616943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>
              <a:off x="1744628" y="6201361"/>
              <a:ext cx="2035400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2326171" y="6201361"/>
              <a:ext cx="1453857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907713" y="6201361"/>
              <a:ext cx="872315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>
              <a:off x="3489256" y="6201361"/>
              <a:ext cx="290772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3780028" y="6201361"/>
              <a:ext cx="290771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3780028" y="6201361"/>
              <a:ext cx="872314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3780028" y="6201361"/>
              <a:ext cx="1453856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3780028" y="6201361"/>
              <a:ext cx="2035399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3780028" y="6201361"/>
              <a:ext cx="2616942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3780028" y="6201361"/>
              <a:ext cx="3198485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780028" y="6201361"/>
              <a:ext cx="3780028" cy="4490642"/>
            </a:xfrm>
            <a:prstGeom prst="line">
              <a:avLst/>
            </a:prstGeom>
            <a:ln w="7620">
              <a:solidFill>
                <a:srgbClr val="3D2A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シルエット"/>
            <p:cNvGrpSpPr/>
            <p:nvPr/>
          </p:nvGrpSpPr>
          <p:grpSpPr>
            <a:xfrm>
              <a:off x="3511114" y="5497827"/>
              <a:ext cx="2352240" cy="1011464"/>
              <a:chOff x="3511114" y="5497827"/>
              <a:chExt cx="2352240" cy="1011464"/>
            </a:xfrm>
          </p:grpSpPr>
          <p:sp>
            <p:nvSpPr>
              <p:cNvPr id="26" name="Isosceles Triangle 25"/>
              <p:cNvSpPr/>
              <p:nvPr/>
            </p:nvSpPr>
            <p:spPr>
              <a:xfrm>
                <a:off x="3511114" y="5497827"/>
                <a:ext cx="2352240" cy="917373"/>
              </a:xfrm>
              <a:prstGeom prst="triangle">
                <a:avLst/>
              </a:prstGeom>
              <a:solidFill>
                <a:srgbClr val="120C08"/>
              </a:solidFill>
              <a:ln w="12700">
                <a:solidFill>
                  <a:srgbClr val="120C0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3511114" y="6321112"/>
                <a:ext cx="2352240" cy="188179"/>
              </a:xfrm>
              <a:prstGeom prst="ellipse">
                <a:avLst/>
              </a:prstGeom>
              <a:solidFill>
                <a:srgbClr val="120C08"/>
              </a:solidFill>
              <a:ln w="12700">
                <a:solidFill>
                  <a:srgbClr val="120C0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28" name="写真タイトル"/>
          <p:cNvSpPr txBox="1"/>
          <p:nvPr/>
        </p:nvSpPr>
        <p:spPr>
          <a:xfrm>
            <a:off x="635000" y="8279003"/>
            <a:ext cx="6290056" cy="55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EDE0"/>
                </a:solidFill>
                <a:latin typeface="Noto Serif JP"/>
                <a:ea typeface="Noto Serif JP"/>
                <a:cs typeface="Noto Serif JP"/>
              </a:rPr>
              <a:t>夕暮れの道</a:t>
            </a:r>
          </a:p>
        </p:txBody>
      </p:sp>
      <p:sp>
        <p:nvSpPr>
          <p:cNvPr id="29" name="写真キャプション"/>
          <p:cNvSpPr txBox="1"/>
          <p:nvPr/>
        </p:nvSpPr>
        <p:spPr>
          <a:xfrm>
            <a:off x="635000" y="8914003"/>
            <a:ext cx="6290056" cy="20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4EDE0"/>
                </a:solidFill>
                <a:latin typeface="Noto Sans JP"/>
                <a:ea typeface="Noto Sans JP"/>
                <a:cs typeface="Noto Sans JP"/>
              </a:rPr>
              <a:t>ベトナム中部</a:t>
            </a:r>
          </a:p>
        </p:txBody>
      </p:sp>
      <p:sp>
        <p:nvSpPr>
          <p:cNvPr id="30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D9BD84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D9B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0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引用符"/>
          <p:cNvSpPr txBox="1"/>
          <p:nvPr/>
        </p:nvSpPr>
        <p:spPr>
          <a:xfrm>
            <a:off x="558800" y="1524000"/>
            <a:ext cx="1524000" cy="1905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4000" b="0" i="1">
                <a:solidFill>
                  <a:srgbClr val="B8955A"/>
                </a:solidFill>
                <a:latin typeface="Playfair Display"/>
                <a:ea typeface="Playfair Display"/>
                <a:cs typeface="Playfair Display"/>
              </a:rPr>
              <a:t>“</a:t>
            </a:r>
          </a:p>
        </p:txBody>
      </p:sp>
      <p:sp>
        <p:nvSpPr>
          <p:cNvPr id="5" name="引用"/>
          <p:cNvSpPr txBox="1"/>
          <p:nvPr/>
        </p:nvSpPr>
        <p:spPr>
          <a:xfrm>
            <a:off x="889000" y="4062961"/>
            <a:ext cx="5782056" cy="152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200" b="1" i="0">
                <a:solidFill>
                  <a:srgbClr val="3B2A1E"/>
                </a:solidFill>
                <a:latin typeface="Noto Serif JP"/>
                <a:ea typeface="Noto Serif JP"/>
                <a:cs typeface="Noto Serif JP"/>
              </a:rPr>
              <a:t>十六の輪に、</a:t>
            </a:r>
          </a:p>
          <a:p>
            <a:pPr algn="l">
              <a:lnSpc>
                <a:spcPct val="150000"/>
              </a:lnSpc>
            </a:pPr>
            <a:r>
              <a:rPr sz="2200" b="1" i="0">
                <a:solidFill>
                  <a:srgbClr val="3B2A1E"/>
                </a:solidFill>
                <a:latin typeface="Noto Serif JP"/>
                <a:ea typeface="Noto Serif JP"/>
                <a:cs typeface="Noto Serif JP"/>
              </a:rPr>
              <a:t>村の時間が編みこまれている。</a:t>
            </a:r>
          </a:p>
        </p:txBody>
      </p:sp>
      <p:sp>
        <p:nvSpPr>
          <p:cNvPr id="6" name="出典"/>
          <p:cNvSpPr txBox="1"/>
          <p:nvPr/>
        </p:nvSpPr>
        <p:spPr>
          <a:xfrm>
            <a:off x="889000" y="5713961"/>
            <a:ext cx="5782056" cy="20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— フエの笠職人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5E4D3D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5E4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小見出し"/>
          <p:cNvSpPr txBox="1"/>
          <p:nvPr/>
        </p:nvSpPr>
        <p:spPr>
          <a:xfrm>
            <a:off x="635000" y="889000"/>
            <a:ext cx="3810000" cy="177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955A"/>
                </a:solidFill>
                <a:latin typeface="Noto Sans JP"/>
                <a:ea typeface="Noto Sans JP"/>
                <a:cs typeface="Noto Sans JP"/>
              </a:rPr>
              <a:t>02 — 村</a:t>
            </a:r>
          </a:p>
        </p:txBody>
      </p:sp>
      <p:sp>
        <p:nvSpPr>
          <p:cNvPr id="5" name="見出し"/>
          <p:cNvSpPr txBox="1"/>
          <p:nvPr/>
        </p:nvSpPr>
        <p:spPr>
          <a:xfrm>
            <a:off x="635000" y="1117600"/>
            <a:ext cx="6290056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1F17"/>
                </a:solidFill>
                <a:latin typeface="Noto Serif JP"/>
                <a:ea typeface="Noto Serif JP"/>
                <a:cs typeface="Noto Serif JP"/>
              </a:rPr>
              <a:t>かたちの理由</a:t>
            </a:r>
          </a:p>
        </p:txBody>
      </p:sp>
      <p:sp>
        <p:nvSpPr>
          <p:cNvPr id="6" name="本文"/>
          <p:cNvSpPr txBox="1"/>
          <p:nvPr/>
        </p:nvSpPr>
        <p:spPr>
          <a:xfrm>
            <a:off x="635000" y="1905000"/>
            <a:ext cx="6290056" cy="558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ノンラー（ベトナムの葉の笠）は、強い日差しと突然のスコールから人々を守るために生まれました。円錐形のかたちは雨水をすばやく流し、広いつばは顔と肩に影をつくります。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一つの笠を仕上げるには、熟練の職人でも丸一日かかります。竹を細く削って十六本の輪をつくり、乾燥させた椰子の葉を一枚ずつ重ねて、細い糸で縫いとめていきます。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フエの「詩の笠」は、光にかざすと葉の間に詩や風景が浮かび上がります。薄い葉の層の間に切り絵を挟みこむ、繊細な技法です。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田んぼで働く農家、市場の売り手、川を渡る船頭。ノンは日々の暮らしのなかで、日よけ、雨よけ、うちわ、そして水をすくう器にもなります。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050" b="0" i="0">
                <a:solidFill>
                  <a:srgbClr val="2A1F17"/>
                </a:solidFill>
                <a:latin typeface="Noto Sans JP"/>
                <a:ea typeface="Noto Sans JP"/>
                <a:cs typeface="Noto Sans JP"/>
              </a:rPr>
              <a:t>現代ではファッションや観光の象徴としても親しまれ、アオザイと組み合わせた姿はベトナムを代表するイメージの一つになりました。</a:t>
            </a:r>
          </a:p>
        </p:txBody>
      </p:sp>
      <p:sp>
        <p:nvSpPr>
          <p:cNvPr id="7" name="引用ライン"/>
          <p:cNvSpPr/>
          <p:nvPr/>
        </p:nvSpPr>
        <p:spPr>
          <a:xfrm>
            <a:off x="635000" y="8128000"/>
            <a:ext cx="38100" cy="889000"/>
          </a:xfrm>
          <a:prstGeom prst="rect">
            <a:avLst/>
          </a:prstGeom>
          <a:solidFill>
            <a:srgbClr val="7D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引用"/>
          <p:cNvSpPr txBox="1"/>
          <p:nvPr/>
        </p:nvSpPr>
        <p:spPr>
          <a:xfrm>
            <a:off x="838200" y="8204200"/>
            <a:ext cx="5909056" cy="889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7D2F2A"/>
                </a:solidFill>
                <a:latin typeface="Noto Serif JP"/>
                <a:ea typeface="Noto Serif JP"/>
                <a:cs typeface="Noto Serif JP"/>
              </a:rPr>
              <a:t>笠は頭の上にあるだけではない。かぶる人の物語を運んでいる。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ランニングヘッド"/>
          <p:cNvSpPr txBox="1"/>
          <p:nvPr/>
        </p:nvSpPr>
        <p:spPr>
          <a:xfrm>
            <a:off x="508000" y="304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00" b="0" i="0" spc="100">
                <a:solidFill>
                  <a:srgbClr val="D9BD84"/>
                </a:solidFill>
                <a:latin typeface="Noto Sans JP"/>
                <a:ea typeface="Noto Sans JP"/>
                <a:cs typeface="Noto Sans JP"/>
              </a:rPr>
              <a:t>ノン — 頭上の物語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482600"/>
            <a:ext cx="6544056" cy="0"/>
          </a:xfrm>
          <a:prstGeom prst="line">
            <a:avLst/>
          </a:prstGeom>
          <a:ln w="5080">
            <a:solidFill>
              <a:srgbClr val="D9B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見出し"/>
          <p:cNvSpPr txBox="1"/>
          <p:nvPr/>
        </p:nvSpPr>
        <p:spPr>
          <a:xfrm>
            <a:off x="508000" y="2413000"/>
            <a:ext cx="6544056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9BD84"/>
                </a:solidFill>
                <a:latin typeface="Noto Serif JP"/>
                <a:ea typeface="Noto Serif JP"/>
                <a:cs typeface="Noto Serif JP"/>
              </a:rPr>
              <a:t>制作チーム</a:t>
            </a:r>
          </a:p>
        </p:txBody>
      </p:sp>
      <p:sp>
        <p:nvSpPr>
          <p:cNvPr id="5" name="スタッフ"/>
          <p:cNvSpPr txBox="1"/>
          <p:nvPr/>
        </p:nvSpPr>
        <p:spPr>
          <a:xfrm>
            <a:off x="508000" y="3175000"/>
            <a:ext cx="6544056" cy="254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220000"/>
              </a:lnSpc>
            </a:pPr>
            <a:r>
              <a:rPr sz="1100" b="0" i="0">
                <a:solidFill>
                  <a:srgbClr val="F4EDE0"/>
                </a:solidFill>
                <a:latin typeface="Noto Sans JP"/>
                <a:ea typeface="Noto Sans JP"/>
                <a:cs typeface="Noto Sans JP"/>
              </a:rPr>
              <a:t>編集 — 氏名</a:t>
            </a:r>
          </a:p>
          <a:p>
            <a:pPr algn="ctr">
              <a:lnSpc>
                <a:spcPct val="220000"/>
              </a:lnSpc>
            </a:pPr>
            <a:r>
              <a:rPr sz="1100" b="0" i="0">
                <a:solidFill>
                  <a:srgbClr val="F4EDE0"/>
                </a:solidFill>
                <a:latin typeface="Noto Sans JP"/>
                <a:ea typeface="Noto Sans JP"/>
                <a:cs typeface="Noto Sans JP"/>
              </a:rPr>
              <a:t>デザイン — 氏名</a:t>
            </a:r>
          </a:p>
          <a:p>
            <a:pPr algn="ctr">
              <a:lnSpc>
                <a:spcPct val="220000"/>
              </a:lnSpc>
            </a:pPr>
            <a:r>
              <a:rPr sz="1100" b="0" i="0">
                <a:solidFill>
                  <a:srgbClr val="F4EDE0"/>
                </a:solidFill>
                <a:latin typeface="Noto Sans JP"/>
                <a:ea typeface="Noto Sans JP"/>
                <a:cs typeface="Noto Sans JP"/>
              </a:rPr>
              <a:t>翻訳 — 氏名</a:t>
            </a:r>
          </a:p>
          <a:p>
            <a:pPr algn="ctr">
              <a:lnSpc>
                <a:spcPct val="220000"/>
              </a:lnSpc>
            </a:pPr>
            <a:r>
              <a:rPr sz="1100" b="0" i="0">
                <a:solidFill>
                  <a:srgbClr val="F4EDE0"/>
                </a:solidFill>
                <a:latin typeface="Noto Sans JP"/>
                <a:ea typeface="Noto Sans JP"/>
                <a:cs typeface="Noto Sans JP"/>
              </a:rPr>
              <a:t>写真 — 氏名</a:t>
            </a:r>
          </a:p>
          <a:p>
            <a:pPr algn="ctr">
              <a:lnSpc>
                <a:spcPct val="220000"/>
              </a:lnSpc>
            </a:pPr>
            <a:r>
              <a:rPr sz="1100" b="0" i="0">
                <a:solidFill>
                  <a:srgbClr val="F4EDE0"/>
                </a:solidFill>
                <a:latin typeface="Noto Sans JP"/>
                <a:ea typeface="Noto Sans JP"/>
                <a:cs typeface="Noto Sans JP"/>
              </a:rPr>
              <a:t>ウェブ — 氏名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80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イラスト：ノン"/>
          <p:cNvGrpSpPr/>
          <p:nvPr/>
        </p:nvGrpSpPr>
        <p:grpSpPr>
          <a:xfrm>
            <a:off x="2872821" y="4852220"/>
            <a:ext cx="1814413" cy="780198"/>
            <a:chOff x="2872821" y="4852220"/>
            <a:chExt cx="1814413" cy="780198"/>
          </a:xfrm>
        </p:grpSpPr>
        <p:sp>
          <p:nvSpPr>
            <p:cNvPr id="3" name="Isosceles Triangle 2"/>
            <p:cNvSpPr/>
            <p:nvPr/>
          </p:nvSpPr>
          <p:spPr>
            <a:xfrm>
              <a:off x="2872821" y="4852220"/>
              <a:ext cx="1814413" cy="707621"/>
            </a:xfrm>
            <a:prstGeom prst="triangle">
              <a:avLst/>
            </a:prstGeom>
            <a:solidFill>
              <a:srgbClr val="B8955A"/>
            </a:solidFill>
            <a:ln w="12700">
              <a:solidFill>
                <a:srgbClr val="D9BD8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2986222" y="5471388"/>
              <a:ext cx="1587611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3099622" y="5382936"/>
              <a:ext cx="1360811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3213023" y="5294483"/>
              <a:ext cx="1134009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3326424" y="5206030"/>
              <a:ext cx="907207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3439825" y="5117578"/>
              <a:ext cx="680405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3553226" y="5029125"/>
              <a:ext cx="453603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3666627" y="4940672"/>
              <a:ext cx="226801" cy="0"/>
            </a:xfrm>
            <a:prstGeom prst="line">
              <a:avLst/>
            </a:prstGeom>
            <a:ln w="5080">
              <a:solidFill>
                <a:srgbClr val="D9BD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2872821" y="5487265"/>
              <a:ext cx="1814413" cy="145153"/>
            </a:xfrm>
            <a:prstGeom prst="ellipse">
              <a:avLst/>
            </a:prstGeom>
            <a:solidFill>
              <a:srgbClr val="B8955A"/>
            </a:solidFill>
            <a:ln w="12700">
              <a:solidFill>
                <a:srgbClr val="D9BD8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メッセージ"/>
          <p:cNvSpPr txBox="1"/>
          <p:nvPr/>
        </p:nvSpPr>
        <p:spPr>
          <a:xfrm>
            <a:off x="508000" y="6415201"/>
            <a:ext cx="6544056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9BD84"/>
                </a:solidFill>
                <a:latin typeface="Noto Serif JP"/>
                <a:ea typeface="Noto Serif JP"/>
                <a:cs typeface="Noto Serif JP"/>
              </a:rPr>
              <a:t>ありがとうございました</a:t>
            </a:r>
          </a:p>
        </p:txBody>
      </p:sp>
      <p:sp>
        <p:nvSpPr>
          <p:cNvPr id="13" name="ロゴ"/>
          <p:cNvSpPr txBox="1"/>
          <p:nvPr/>
        </p:nvSpPr>
        <p:spPr>
          <a:xfrm>
            <a:off x="508000" y="9853803"/>
            <a:ext cx="6544056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</a:pPr>
            <a:r>
              <a:rPr sz="1400" b="0" i="0" spc="400">
                <a:solidFill>
                  <a:srgbClr val="B8955A"/>
                </a:solidFill>
                <a:latin typeface="Playfair Display"/>
                <a:ea typeface="Playfair Display"/>
                <a:cs typeface="Playfair Display"/>
              </a:rPr>
              <a:t>NÓN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